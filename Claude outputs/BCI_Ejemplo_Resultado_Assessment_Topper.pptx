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-2926080"/>
            <a:ext cx="7315200" cy="7315200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280160"/>
            <a:ext cx="4114800" cy="4114800"/>
          </a:xfrm>
          <a:prstGeom prst="ellipse">
            <a:avLst/>
          </a:prstGeom>
          <a:solidFill>
            <a:srgbClr val="C4D4FC"/>
          </a:solidFill>
          <a:ln/>
        </p:spPr>
      </p:sp>
      <p:pic>
        <p:nvPicPr>
          <p:cNvPr id="4" name="Image 0" descr="/tmp/work/pptassets/FINAL_badge_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194560" cy="2427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 — NO ES UN DIAGNÓSTICO REAL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del Assessment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Madurez de 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entregable — Modelo AI-Q / SAMA · Preparado para Topper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Andino · bci consulting · Buenos Aires, Septiembre de 2026</a:t>
            </a:r>
            <a:endParaRPr lang="en-US" sz="1300" dirty="0"/>
          </a:p>
        </p:txBody>
      </p:sp>
      <p:pic>
        <p:nvPicPr>
          <p:cNvPr id="10" name="Image 1" descr="/tmp/work/pptassets/LOGO_light_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0"/>
            <a:ext cx="1828800" cy="282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 E N D 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este ejemplo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48640" y="2011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4173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AI-Q / SAMA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41732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mide, cómo funciona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30632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41732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16 tipos AI-Q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410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completo de arquetipos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8640" y="41148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41732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ejemplo — Topper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4462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fortalezas y camino a seguir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51663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41732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SPBI a CPBI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417320" y="55138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actual, estado objetivo y cómo llegar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00800" y="2011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72694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semana a semana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26948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ejemplo, del Assessment al primer agente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00800" y="30632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726948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y análisis comparativo de stack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269480" y="3410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 al cierre del Assessment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800" y="41148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72694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Política de Uso de IA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269480" y="4462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documento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00800" y="51663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726948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KPIs por proceso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269480" y="55138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métricas mirar en cada agente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C O   C O N C E P T U A 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AI-Q / SAMA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que ubica a la organización en uno de 16 arquetipos de madurez de IA, y el sistema que convierte ese diagnóstico en un roadmap ejecutable.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T R O D U C C I Ó 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dimensiones de madurez de IA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Assessment releva a la organización en cuatro ejes independientes. La combinación de los cuatro define uno de 16 tipos posibles — el mapa objetivo para priorizar procesos, stack y gobierno.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2514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7FF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/ 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3520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IA sueltas y sin dueño, vs. un ecosistema unificado y gobernado.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0080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008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19272" y="2514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7FF"/>
          </a:solidFill>
          <a:ln/>
        </p:spPr>
      </p:sp>
      <p:sp>
        <p:nvSpPr>
          <p:cNvPr id="15" name="Text 11"/>
          <p:cNvSpPr/>
          <p:nvPr/>
        </p:nvSpPr>
        <p:spPr>
          <a:xfrm>
            <a:off x="3502152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P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502152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02152" y="3520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la presión del mercado, vs. anticipa necesidades y planifica.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02152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02152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81344" y="2514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7FF"/>
          </a:solidFill>
          <a:ln/>
        </p:spPr>
      </p:sp>
      <p:sp>
        <p:nvSpPr>
          <p:cNvPr id="21" name="Text 17"/>
          <p:cNvSpPr/>
          <p:nvPr/>
        </p:nvSpPr>
        <p:spPr>
          <a:xfrm>
            <a:off x="6364224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/ B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364224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364224" y="3520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construye capacidades, vs. el negocio impulsa los resultados.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364224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Tech-driven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364224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9043416" y="251460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7FF"/>
          </a:solidFill>
          <a:ln/>
        </p:spPr>
      </p:sp>
      <p:sp>
        <p:nvSpPr>
          <p:cNvPr id="27" name="Text 23"/>
          <p:cNvSpPr/>
          <p:nvPr/>
        </p:nvSpPr>
        <p:spPr>
          <a:xfrm>
            <a:off x="9226296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/ I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9226296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226296" y="35204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aislados, vs. IA incorporada a los flujos de trabajo diarios.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226296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226296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S   1 6   T I P O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Disperso (S) — 8 tipos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8" name="Text 4"/>
          <p:cNvSpPr/>
          <p:nvPr/>
        </p:nvSpPr>
        <p:spPr>
          <a:xfrm>
            <a:off x="621792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SRTE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792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Piloto del Caos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1792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IA... en algún lugar."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82696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12" name="Text 8"/>
          <p:cNvSpPr/>
          <p:nvPr/>
        </p:nvSpPr>
        <p:spPr>
          <a:xfrm>
            <a:off x="3447288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SRTB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47288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Pensador Idealista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47288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"¿No puede la IA simplemente hacer eso?"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08192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16" name="Text 12"/>
          <p:cNvSpPr/>
          <p:nvPr/>
        </p:nvSpPr>
        <p:spPr>
          <a:xfrm>
            <a:off x="6272784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272784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Sobre-Ingeniero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272784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arquitectura es hermosa. Nadie la usa."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933688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20" name="Text 16"/>
          <p:cNvSpPr/>
          <p:nvPr/>
        </p:nvSpPr>
        <p:spPr>
          <a:xfrm>
            <a:off x="9098280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SPTB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098280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Iniciador Ambicioso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098280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 estrategia, ejecución dispersa."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SRTI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21792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Éxito Accidental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21792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"Funciona, pero no me preguntes cómo."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82696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28" name="Text 24"/>
          <p:cNvSpPr/>
          <p:nvPr/>
        </p:nvSpPr>
        <p:spPr>
          <a:xfrm>
            <a:off x="3447288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SRBI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3447288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Héroe de Shadow IT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447288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le digas a IT, pero esto está funcionando."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08192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/>
        </p:spPr>
      </p:sp>
      <p:sp>
        <p:nvSpPr>
          <p:cNvPr id="32" name="Text 28"/>
          <p:cNvSpPr/>
          <p:nvPr/>
        </p:nvSpPr>
        <p:spPr>
          <a:xfrm>
            <a:off x="6272784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SPTI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6272784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Rebelde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272784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"Nuestra tecnología es increíble. Al negocio no le importa."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933688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5F7FF"/>
          </a:solidFill>
          <a:ln w="28575">
            <a:solidFill>
              <a:srgbClr val="2B59F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098280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SPBI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9098280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de Base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098280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"Bolsillos de excelencia, esperando conectarse."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9098280" y="584301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TOPPER →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S   1 6   T I P O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Consolidado (C) — 8 tipos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8" name="Text 4"/>
          <p:cNvSpPr/>
          <p:nvPr/>
        </p:nvSpPr>
        <p:spPr>
          <a:xfrm>
            <a:off x="621792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CRTE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792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 Controlado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1792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"Estamos piloteando... todavía."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82696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12" name="Text 8"/>
          <p:cNvSpPr/>
          <p:nvPr/>
        </p:nvSpPr>
        <p:spPr>
          <a:xfrm>
            <a:off x="3447288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CRTB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47288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de la Espera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47288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"Estamos listos para estar listos."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08192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16" name="Text 12"/>
          <p:cNvSpPr/>
          <p:nvPr/>
        </p:nvSpPr>
        <p:spPr>
          <a:xfrm>
            <a:off x="6272784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272784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Utopía Tecnológica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272784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tan solo la gente usara lo que construimos."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933688" y="22402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20" name="Text 16"/>
          <p:cNvSpPr/>
          <p:nvPr/>
        </p:nvSpPr>
        <p:spPr>
          <a:xfrm>
            <a:off x="9098280" y="2368296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CPTB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098280" y="277063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de Estrategia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098280" y="3282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deck está listo. La ejecución no."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CRTI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21792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Eficiente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21792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"Responsivo pero no innovador."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82696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28" name="Text 24"/>
          <p:cNvSpPr/>
          <p:nvPr/>
        </p:nvSpPr>
        <p:spPr>
          <a:xfrm>
            <a:off x="3447288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CRBI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3447288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Desk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447288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"Entregamos lo que pides — nada más."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08192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/>
        </p:spPr>
      </p:sp>
      <p:sp>
        <p:nvSpPr>
          <p:cNvPr id="32" name="Text 28"/>
          <p:cNvSpPr/>
          <p:nvPr/>
        </p:nvSpPr>
        <p:spPr>
          <a:xfrm>
            <a:off x="6272784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CPTI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6272784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Casi Ahí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272784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una conversación de la excelencia."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933688" y="426110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14205A"/>
          </a:solidFill>
          <a:ln w="28575">
            <a:solidFill>
              <a:srgbClr val="9BB5F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098280" y="43891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CPBI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9098280" y="4791456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Estratégico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098280" y="53035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IA es cómo competimos."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9098280" y="584301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OBJETIVO →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U L T A D O   D E   E J E M P L 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vería el resultado de Topper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ilustrativo de cómo el Assessment tipifica a una organización con procesos financieros de alto volumen manual y automatizaciones puntuales ya en marcha.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U L T A D O   D E   E J E M P L O   ( I L U S T R A T I V O )   —   T O P P E 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AI-Q: SPBI — El Movimiento de Base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187452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14205A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SPBI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"Bolsillos de excelencia, esperando conectarse."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8580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9728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97280" y="3675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" y="4050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9728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9728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5800" y="4672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7280" y="4672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097280" y="4919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85800" y="5294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097280" y="5294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97280" y="5541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977640" y="1874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— cómo se ve este tipo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977640" y="21762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procesos ya se automatizaron con buenos resultados — pero de forma aislada, sin gobierno central ni presupuesto asignado, y sin una hoja de ruta que conecte esos logros con el resto de la organización.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977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a aprovechar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977640" y="318211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 internos ya demostrados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 apetito de automatizar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disponible por área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9095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ciegos a vigilar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909560" y="318211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visión consolidada del ROI total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duplicar herramientas entre áreas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concentrado en pocas personas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977640" y="4709160"/>
            <a:ext cx="7589520" cy="1234440"/>
          </a:xfrm>
          <a:prstGeom prst="roundRect">
            <a:avLst>
              <a:gd name="adj" fmla="val 5926"/>
            </a:avLst>
          </a:prstGeom>
          <a:solidFill>
            <a:srgbClr val="E8EEFF"/>
          </a:solidFill>
          <a:ln/>
        </p:spPr>
      </p:sp>
      <p:sp>
        <p:nvSpPr>
          <p:cNvPr id="29" name="Text 25"/>
          <p:cNvSpPr/>
          <p:nvPr/>
        </p:nvSpPr>
        <p:spPr>
          <a:xfrm>
            <a:off x="420624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A SEGUIR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206240" y="513892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lo que ya funciona. El Assessment consolida los procesos ya automatizados y los nuevos priorizados en un único roadmap con gobierno y presupuesto centralizados — sin frenar lo que ya anda bien.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U L T A D O   D E   E J E M P L 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clave del relevamiento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 las métricas relevadas durante las dos semanas de Assessment (valores ilustrativos).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2423160"/>
            <a:ext cx="3639312" cy="2926080"/>
          </a:xfrm>
          <a:prstGeom prst="roundRect">
            <a:avLst>
              <a:gd name="adj" fmla="val 3125"/>
            </a:avLst>
          </a:prstGeom>
          <a:solidFill>
            <a:srgbClr val="F5F7F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65176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000" dirty="0"/>
          </a:p>
        </p:txBody>
      </p:sp>
      <p:sp>
        <p:nvSpPr>
          <p:cNvPr id="10" name="Text 6"/>
          <p:cNvSpPr/>
          <p:nvPr/>
        </p:nvSpPr>
        <p:spPr>
          <a:xfrm>
            <a:off x="731520" y="374904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financieros relevados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" y="44348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administración, tesorería y contaduría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79392" y="2423160"/>
            <a:ext cx="3639312" cy="2926080"/>
          </a:xfrm>
          <a:prstGeom prst="roundRect">
            <a:avLst>
              <a:gd name="adj" fmla="val 3125"/>
            </a:avLst>
          </a:prstGeom>
          <a:solidFill>
            <a:srgbClr val="F5F7FF"/>
          </a:solidFill>
          <a:ln/>
        </p:spPr>
      </p:sp>
      <p:sp>
        <p:nvSpPr>
          <p:cNvPr id="13" name="Text 9"/>
          <p:cNvSpPr/>
          <p:nvPr/>
        </p:nvSpPr>
        <p:spPr>
          <a:xfrm>
            <a:off x="4553712" y="265176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4" name="Text 10"/>
          <p:cNvSpPr/>
          <p:nvPr/>
        </p:nvSpPr>
        <p:spPr>
          <a:xfrm>
            <a:off x="4553712" y="374904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priorizados para Fase 2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44348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impacto y facilidad de implementación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01584" y="2423160"/>
            <a:ext cx="3639312" cy="2926080"/>
          </a:xfrm>
          <a:prstGeom prst="roundRect">
            <a:avLst>
              <a:gd name="adj" fmla="val 3125"/>
            </a:avLst>
          </a:prstGeom>
          <a:solidFill>
            <a:srgbClr val="F5F7FF"/>
          </a:solidFill>
          <a:ln/>
        </p:spPr>
      </p:sp>
      <p:sp>
        <p:nvSpPr>
          <p:cNvPr id="17" name="Text 13"/>
          <p:cNvSpPr/>
          <p:nvPr/>
        </p:nvSpPr>
        <p:spPr>
          <a:xfrm>
            <a:off x="8375904" y="265176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~65%</a:t>
            </a:r>
            <a:endParaRPr lang="en-US" sz="5000" dirty="0"/>
          </a:p>
        </p:txBody>
      </p:sp>
      <p:sp>
        <p:nvSpPr>
          <p:cNvPr id="18" name="Text 14"/>
          <p:cNvSpPr/>
          <p:nvPr/>
        </p:nvSpPr>
        <p:spPr>
          <a:xfrm>
            <a:off x="8375904" y="374904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volumen manual es automatizable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8375904" y="44348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stack evaluado, sin tocar SAP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   C A M I N O   D E   T R A N S F O R M A C I Ó 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SPBI a CPBI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actual, estado objetivo, y qué hay que hacer para recorrer la distancia entre uno y otro — el corazón del roadmap.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  S P B I   A   C P B I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actual, objetivo y camino (ejemplo)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4 ejes del modelo, 3 ya están en el nivel objetivo. Solo falta consolidar la Estructura — conectar las islas de automatización bajo un mismo gobierno y stack.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4231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4205A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679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SPBI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3152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de Base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31520" y="4023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42428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204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1520" y="454456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31520" y="47640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204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1520" y="50657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31520" y="5285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5204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" y="55869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1520" y="5806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52044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270248" y="24231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5F7FF"/>
          </a:solidFill>
          <a:ln/>
        </p:spPr>
      </p:sp>
      <p:sp>
        <p:nvSpPr>
          <p:cNvPr id="25" name="Text 21"/>
          <p:cNvSpPr/>
          <p:nvPr/>
        </p:nvSpPr>
        <p:spPr>
          <a:xfrm>
            <a:off x="4544568" y="2679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LOGRAMOS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44568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palancas del roadmap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544568" y="35661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8" name="Text 24"/>
          <p:cNvSpPr/>
          <p:nvPr/>
        </p:nvSpPr>
        <p:spPr>
          <a:xfrm>
            <a:off x="454456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01768" y="35478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bajo un mismo stack y gobierno los procesos ya automatizados y los nuevos priorizados.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44568" y="42245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1" name="Text 27"/>
          <p:cNvSpPr/>
          <p:nvPr/>
        </p:nvSpPr>
        <p:spPr>
          <a:xfrm>
            <a:off x="4544568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001768" y="4206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presupuesto y decisiones de IA a nivel dirección, no por área suelta.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544568" y="48828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4" name="Text 30"/>
          <p:cNvSpPr/>
          <p:nvPr/>
        </p:nvSpPr>
        <p:spPr>
          <a:xfrm>
            <a:off x="4544568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001768" y="4864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cada agente con el mismo tablero de KPIs, desde el primer piloto.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44568" y="554126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7" name="Text 33"/>
          <p:cNvSpPr/>
          <p:nvPr/>
        </p:nvSpPr>
        <p:spPr>
          <a:xfrm>
            <a:off x="4544568" y="5541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001768" y="55229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con SAMA: narrativa, diagnóstico, cadencia ágil y sostenimiento en el tiempo.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083296" y="24231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2B59FC"/>
          </a:solidFill>
          <a:ln/>
        </p:spPr>
      </p:sp>
      <p:sp>
        <p:nvSpPr>
          <p:cNvPr id="40" name="Text 36"/>
          <p:cNvSpPr/>
          <p:nvPr/>
        </p:nvSpPr>
        <p:spPr>
          <a:xfrm>
            <a:off x="8357616" y="2679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OBJETIVO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357616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CPBI</a:t>
            </a:r>
            <a:endParaRPr lang="en-US" sz="3000" dirty="0"/>
          </a:p>
        </p:txBody>
      </p:sp>
      <p:sp>
        <p:nvSpPr>
          <p:cNvPr id="42" name="Text 38"/>
          <p:cNvSpPr/>
          <p:nvPr/>
        </p:nvSpPr>
        <p:spPr>
          <a:xfrm>
            <a:off x="8357616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Estratégico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8357616" y="4023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8357616" y="4242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8357616" y="45445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8357616" y="47640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</a:t>
            </a:r>
            <a:endParaRPr lang="en-US" sz="1250" dirty="0"/>
          </a:p>
        </p:txBody>
      </p:sp>
      <p:sp>
        <p:nvSpPr>
          <p:cNvPr id="47" name="Text 43"/>
          <p:cNvSpPr/>
          <p:nvPr/>
        </p:nvSpPr>
        <p:spPr>
          <a:xfrm>
            <a:off x="8357616" y="50657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8357616" y="52852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</a:t>
            </a:r>
            <a:endParaRPr lang="en-US" sz="1250" dirty="0"/>
          </a:p>
        </p:txBody>
      </p:sp>
      <p:sp>
        <p:nvSpPr>
          <p:cNvPr id="49" name="Text 45"/>
          <p:cNvSpPr/>
          <p:nvPr/>
        </p:nvSpPr>
        <p:spPr>
          <a:xfrm>
            <a:off x="8357616" y="558698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8357616" y="5806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250" dirty="0"/>
          </a:p>
        </p:txBody>
      </p:sp>
      <p:sp>
        <p:nvSpPr>
          <p:cNvPr id="51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J A   D E   R U T 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resultante del Assessment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23774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4205A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B5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8580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3474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de procesos, stack y costos. Tipificación AI-Q.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8580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154680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319272" y="23774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5F7FF"/>
          </a:solidFill>
          <a:ln/>
        </p:spPr>
      </p:sp>
      <p:sp>
        <p:nvSpPr>
          <p:cNvPr id="14" name="Text 10"/>
          <p:cNvSpPr/>
          <p:nvPr/>
        </p:nvSpPr>
        <p:spPr>
          <a:xfrm>
            <a:off x="3547872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547872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47872" y="3474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agentes ordenado por impacto y esfuerzo.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47872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16752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81344" y="23774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5F7FF"/>
          </a:solidFill>
          <a:ln/>
        </p:spPr>
      </p:sp>
      <p:sp>
        <p:nvSpPr>
          <p:cNvPr id="20" name="Text 16"/>
          <p:cNvSpPr/>
          <p:nvPr/>
        </p:nvSpPr>
        <p:spPr>
          <a:xfrm>
            <a:off x="6409944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409944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09944" y="3474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primer agente priorizado (Fase 2).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409944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3-6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878824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043416" y="23774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5F7FF"/>
          </a:solidFill>
          <a:ln/>
        </p:spPr>
      </p:sp>
      <p:sp>
        <p:nvSpPr>
          <p:cNvPr id="26" name="Text 22"/>
          <p:cNvSpPr/>
          <p:nvPr/>
        </p:nvSpPr>
        <p:spPr>
          <a:xfrm>
            <a:off x="9272016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9272016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272016" y="3474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 de los siguientes agentes y tablero unificado.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72016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  D E T A L L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semana a semana (ejemplo)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desglose de hitos día a día y semana a semana, desde el kickoff del Assessment hasta el go-live del primer agente — así se ve un roadmap ejecutable, no solo un gráfico de fases.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 A D M A P   S E M A N A   A   S E M A N 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Assessment (2 semanas)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1462126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965960"/>
            <a:ext cx="12792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919326" y="1965960"/>
            <a:ext cx="2249424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10766" y="19659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68750" y="1965960"/>
            <a:ext cx="4161434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60190" y="1965960"/>
            <a:ext cx="3978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330184" y="1965960"/>
            <a:ext cx="3374136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21624" y="1965960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350008"/>
            <a:ext cx="146212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350008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919326" y="2350008"/>
            <a:ext cx="22494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0766" y="235000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8750" y="2350008"/>
            <a:ext cx="416143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60190" y="2350008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con sponsors · entrevistas con Finanzas, Tesorería y Contaduría · mapeo de procesos y stack existente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330184" y="2350008"/>
            <a:ext cx="33741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21624" y="2350008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preliminar de procesos y stack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063240"/>
            <a:ext cx="146212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3063240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1919326" y="3063240"/>
            <a:ext cx="224942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0766" y="3063240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cierre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168750" y="3063240"/>
            <a:ext cx="416143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60190" y="3063240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Tipificación AI-Q / SAMA · armado del roadmap priorizado y del comparativo de stack · borrador de Política de IA · presentación a sponsors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330184" y="3063240"/>
            <a:ext cx="337413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21624" y="3063240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diagnóstico, roadmap y Política de IA (borrador)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57200" y="3749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hitos de ejemplo — el detalle día a día se ajusta con el equipo de Topper en el kickoff.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 A D M A P   S E M A N A   A   S E M A N 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Piloto del primer agente (ejemplo: Retenciones)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1462126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965960"/>
            <a:ext cx="12792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919326" y="1965960"/>
            <a:ext cx="2249424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10766" y="19659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68750" y="1965960"/>
            <a:ext cx="4161434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60190" y="1965960"/>
            <a:ext cx="3978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330184" y="1965960"/>
            <a:ext cx="3374136" cy="384048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21624" y="1965960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350008"/>
            <a:ext cx="146212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350008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919326" y="2350008"/>
            <a:ext cx="22494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0766" y="235000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y setup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8750" y="2350008"/>
            <a:ext cx="416143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60190" y="2350008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de casuística real (certificados, plan de cuentas SAP) · configuración inicial de Orquestador, LLM y OCR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330184" y="2350008"/>
            <a:ext cx="33741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21624" y="2350008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trabajo configurado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063240"/>
            <a:ext cx="146212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3063240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1919326" y="3063240"/>
            <a:ext cx="224942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0766" y="3063240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168750" y="3063240"/>
            <a:ext cx="416143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60190" y="3063240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flujo: lectura, extracción con IA y mapeo al plan de cuentas · primeras pruebas con documentos reales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330184" y="3063240"/>
            <a:ext cx="337413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21624" y="3063240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funcional en ambiente de prueba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57200" y="3776472"/>
            <a:ext cx="146212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3776472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919326" y="3776472"/>
            <a:ext cx="22494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010766" y="3776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168750" y="3776472"/>
            <a:ext cx="416143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260190" y="3776472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Corridas con un mes de certificados reales · ajuste del diccionario contable · medición de tasa de excepción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330184" y="3776472"/>
            <a:ext cx="337413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421624" y="3776472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precisión y excepciones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57200" y="4489704"/>
            <a:ext cx="146212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4489704"/>
            <a:ext cx="1279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1919326" y="4489704"/>
            <a:ext cx="224942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010766" y="448970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168750" y="4489704"/>
            <a:ext cx="4161434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260190" y="4489704"/>
            <a:ext cx="397855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referente interno · documentación técnica · pase a producción · revisión de resultados con sponsors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330184" y="4489704"/>
            <a:ext cx="3374136" cy="713232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421624" y="4489704"/>
            <a:ext cx="3191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en producción + traspaso al equipo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duración y foco de ejemplo — cada agente del catálogo tiene su propio detalle semanal, ajustado en el roadmap de Fase 1.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R E G A B L E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 al cierre del Assessment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1965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8" name="Shape 4"/>
          <p:cNvSpPr/>
          <p:nvPr/>
        </p:nvSpPr>
        <p:spPr>
          <a:xfrm>
            <a:off x="685800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25880" y="21305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diagnóstico AI-Q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25880" y="24963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resultante, las 4 dimensiones medidas y su interpretación.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965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13" name="Shape 9"/>
          <p:cNvSpPr/>
          <p:nvPr/>
        </p:nvSpPr>
        <p:spPr>
          <a:xfrm>
            <a:off x="6446520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14" name="Text 10"/>
          <p:cNvSpPr/>
          <p:nvPr/>
        </p:nvSpPr>
        <p:spPr>
          <a:xfrm>
            <a:off x="64465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86600" y="21305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priorizados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086600" y="24963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Volumen, esfuerzo manual actual y retorno estimado por proceso.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3639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2588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de stack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25880" y="39136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Orquestador, LLM y OCR evaluados, con costo y encaje.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17920" y="33832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446520" y="3639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4" name="Text 20"/>
          <p:cNvSpPr/>
          <p:nvPr/>
        </p:nvSpPr>
        <p:spPr>
          <a:xfrm>
            <a:off x="644652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08660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agentes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086600" y="39136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recomendada de implementación, con costos por fase.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57200" y="48006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28" name="Shape 24"/>
          <p:cNvSpPr/>
          <p:nvPr/>
        </p:nvSpPr>
        <p:spPr>
          <a:xfrm>
            <a:off x="685800" y="5056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325880" y="4965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Uso de IA (borrador)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1325880" y="53309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para el gobierno interno de la IA en la compañía.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217920" y="48006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5F7FF"/>
          </a:solidFill>
          <a:ln/>
        </p:spPr>
      </p:sp>
      <p:sp>
        <p:nvSpPr>
          <p:cNvPr id="33" name="Shape 29"/>
          <p:cNvSpPr/>
          <p:nvPr/>
        </p:nvSpPr>
        <p:spPr>
          <a:xfrm>
            <a:off x="6446520" y="5056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4" name="Text 30"/>
          <p:cNvSpPr/>
          <p:nvPr/>
        </p:nvSpPr>
        <p:spPr>
          <a:xfrm>
            <a:off x="6446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086600" y="4965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a sponsors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7086600" y="53309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Assessment con el equipo directivo de la compañía.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R E G A B L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comparativo de stack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extracto del análisis de opciones tecnológicas que compara alternativas de mercado por categoría — Filesystem, Orquestador, LLM y OCR — con costo, curva de adopción y encaje.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Á L I S I S   D E   S T A C 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Orquestador (automatización low-code)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5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de punta a punta los flujos automáticos — dispara, transforma y conecta cada paso del proceso.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286000"/>
            <a:ext cx="1912010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2286000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69210" y="2286000"/>
            <a:ext cx="1687068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60650" y="2286000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056278" y="2286000"/>
            <a:ext cx="2361895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47718" y="2286000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18174" y="2286000"/>
            <a:ext cx="2136953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9614" y="2286000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límite?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55126" y="2286000"/>
            <a:ext cx="3149194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6566" y="2286000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798064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98064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369210" y="2798064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60650" y="2798064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(SaaS)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056278" y="2798064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47718" y="2798064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operaciones/mes, desde ~US$9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18174" y="2798064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09614" y="2798064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tope de operaciones por plan, ampliable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555126" y="2798064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46566" y="2798064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sin developers, iteración rápida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310128"/>
            <a:ext cx="191201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310128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369210" y="3310128"/>
            <a:ext cx="1687068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460650" y="3310128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(o servidor propio si self-hosted)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056278" y="3310128"/>
            <a:ext cx="2361895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47718" y="3310128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self-hosted (solo hosting) o plan Cloud desde ~US$20/mes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418174" y="3310128"/>
            <a:ext cx="2136953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09614" y="3310128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self-hosted sin límite de ejecuciones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555126" y="3310128"/>
            <a:ext cx="3149194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46566" y="3310128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propio, control total del dato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7200" y="3822192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" y="3822192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69210" y="3822192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460650" y="3822192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056278" y="3822192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147718" y="3822192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flujo o por usuario/mes (licencia Microsoft)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418174" y="3822192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509614" y="3822192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tope de flujos o corridas según licencia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555126" y="3822192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646566" y="3822192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100% ecosistema Microsoft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CAPEX/OPEX y límites son referenciales — se confirman con el equipo de IT en base a la lista de precios vigente de cada proveedor.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Á L I S I S   D E   S T A C 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Filesystem (repositorio de documentos)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5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los documentos de origen y dispara el flujo cuando llega uno nuevo.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286000"/>
            <a:ext cx="1912010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2286000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69210" y="2286000"/>
            <a:ext cx="1687068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60650" y="2286000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056278" y="2286000"/>
            <a:ext cx="2361895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47718" y="2286000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18174" y="2286000"/>
            <a:ext cx="2136953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9614" y="2286000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límite?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55126" y="2286000"/>
            <a:ext cx="3149194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6566" y="2286000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798064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98064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369210" y="2798064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60650" y="2798064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056278" y="2798064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47718" y="2798064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licencia Google Workspace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18174" y="2798064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09614" y="2798064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tope de almacenamiento por plan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555126" y="2798064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46566" y="2798064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trabaja en Google Workspace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310128"/>
            <a:ext cx="191201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310128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/ SharePoint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369210" y="3310128"/>
            <a:ext cx="1687068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460650" y="3310128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056278" y="3310128"/>
            <a:ext cx="2361895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47718" y="3310128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licencia Microsoft 365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418174" y="3310128"/>
            <a:ext cx="2136953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09614" y="3310128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tope de almacenamiento por plan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555126" y="3310128"/>
            <a:ext cx="3149194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46566" y="3310128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trabaja en ecosistema Microsoft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7200" y="3822192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" y="3822192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 Business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69210" y="3822192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460650" y="3822192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056278" y="3822192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147718" y="3822192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usuario/mes, costo medio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418174" y="3822192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509614" y="3822192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tope de almacenamiento y transferencia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555126" y="3822192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646566" y="3822192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híbridos con mucho archivo local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CAPEX/OPEX y límites son referenciales — se confirman con el equipo de IT en base a la lista de precios vigente de cada proveedor.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Á L I S I S   D E   S T A C 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(extracción y clasificación)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5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documento y extrae o clasifica los datos contables clave.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286000"/>
            <a:ext cx="1912010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2286000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69210" y="2286000"/>
            <a:ext cx="1687068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60650" y="2286000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056278" y="2286000"/>
            <a:ext cx="2361895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47718" y="2286000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18174" y="2286000"/>
            <a:ext cx="2136953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9614" y="2286000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límite?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55126" y="2286000"/>
            <a:ext cx="3149194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6566" y="2286000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798064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98064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369210" y="2798064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60650" y="2798064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056278" y="2798064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47718" y="2798064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token, costo bajo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18174" y="2798064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09614" y="2798064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rate limit por minuto/día según tier, ampliable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555126" y="2798064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46566" y="2798064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volumen, presupuesto ajustado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310128"/>
            <a:ext cx="191201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310128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(OpenAI)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369210" y="3310128"/>
            <a:ext cx="1687068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460650" y="3310128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056278" y="3310128"/>
            <a:ext cx="2361895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47718" y="3310128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token, costo medio-alto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418174" y="3310128"/>
            <a:ext cx="2136953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09614" y="3310128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rate limit por tier de uso, ampliable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555126" y="3310128"/>
            <a:ext cx="3149194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46566" y="3310128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con excepciones difíciles de tipificar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7200" y="3822192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" y="3822192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69210" y="3822192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460650" y="3822192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056278" y="3822192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147718" y="3822192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token, costo medio-alto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418174" y="3822192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509614" y="3822192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rate limit por tier de uso, ampliable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555126" y="3822192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646566" y="3822192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Extractos y contratos extensos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CAPEX/OPEX y límites son referenciales — se confirman con el equipo de IT en base a la lista de precios vigente de cada proveedor.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Á L I S I S   D E   S T A C 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(lectura de documentos escaneados)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5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PDF o la foto en texto que el LLM pueda interpretar.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2286000"/>
            <a:ext cx="1912010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2286000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69210" y="2286000"/>
            <a:ext cx="1687068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60650" y="2286000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056278" y="2286000"/>
            <a:ext cx="2361895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47718" y="2286000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18174" y="2286000"/>
            <a:ext cx="2136953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9614" y="2286000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límite?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55126" y="2286000"/>
            <a:ext cx="3149194" cy="512064"/>
          </a:xfrm>
          <a:prstGeom prst="rect">
            <a:avLst/>
          </a:prstGeom>
          <a:solidFill>
            <a:srgbClr val="1420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6566" y="2286000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798064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98064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PDF.co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369210" y="2798064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60650" y="2798064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056278" y="2798064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47718" y="2798064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página o crédito, costo bajo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18174" y="2798064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09614" y="2798064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créditos mensuales por plan, ampliable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555126" y="2798064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46566" y="2798064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alto, documentos estándar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7200" y="3310128"/>
            <a:ext cx="191201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310128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Vision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369210" y="3310128"/>
            <a:ext cx="1687068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460650" y="3310128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056278" y="3310128"/>
            <a:ext cx="2361895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47718" y="3310128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transacción, pay-as-you-go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418174" y="3310128"/>
            <a:ext cx="2136953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09614" y="3310128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rate limit por tier, sin tope duro de volumen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555126" y="3310128"/>
            <a:ext cx="3149194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46566" y="3310128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fotografiados o mal escaneados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7200" y="3822192"/>
            <a:ext cx="191201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" y="3822192"/>
            <a:ext cx="1729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Document AI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69210" y="3822192"/>
            <a:ext cx="168706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460650" y="3822192"/>
            <a:ext cx="15041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056278" y="3822192"/>
            <a:ext cx="236189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147718" y="3822192"/>
            <a:ext cx="21790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página procesada, costo medio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418174" y="3822192"/>
            <a:ext cx="213695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509614" y="3822192"/>
            <a:ext cx="19540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cuota configurable, ampliable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555126" y="3822192"/>
            <a:ext cx="314919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646566" y="3822192"/>
            <a:ext cx="296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Extractos bancarios y formularios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CAPEX/OPEX y límites son referenciales — se confirman con el equipo de IT en base a la lista de precios vigente de cada proveedor.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R E G A B L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Uso de 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borrador inicial de gobierno de IA, para que la compañía adopte agentes con reglas claras desde el primer día — qué datos pueden procesarse, quién aprueba, y cómo se audita.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R E G A B L 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documento de Política de IA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57200" y="187452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8" name="Shape 4"/>
          <p:cNvSpPr/>
          <p:nvPr/>
        </p:nvSpPr>
        <p:spPr>
          <a:xfrm>
            <a:off x="640080" y="2057400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993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objetivo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procesos y sistemas cubre la política, y a quién aplica.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217920" y="187452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0" y="2057400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1993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permitidos y prohibidos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8368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puede pasar por un LLM externo, y qué nunca.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054096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3236976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3172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aprobaciones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2960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habilitar un nuevo agente o una nueva integración.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3054096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3236976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3172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83680" y="3511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casos el sistema debe derivar a revisión humana obligatoria.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4233672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40080" y="4416552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43525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trazabilidad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22960" y="46908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decisiones automáticas: qué se guarda y por cuánto tiempo.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4233672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28" name="Shape 24"/>
          <p:cNvSpPr/>
          <p:nvPr/>
        </p:nvSpPr>
        <p:spPr>
          <a:xfrm>
            <a:off x="6400800" y="4416552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29" name="Text 25"/>
          <p:cNvSpPr/>
          <p:nvPr/>
        </p:nvSpPr>
        <p:spPr>
          <a:xfrm>
            <a:off x="6583680" y="43525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583680" y="46908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ante un error del agente o una filtración de datos.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57200" y="5413248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32" name="Shape 28"/>
          <p:cNvSpPr/>
          <p:nvPr/>
        </p:nvSpPr>
        <p:spPr>
          <a:xfrm>
            <a:off x="640080" y="5596128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y contratos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822960" y="5870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mínimas de datos a exigir a cada proveedor de IA.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217920" y="5413248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5F7FF"/>
          </a:solidFill>
          <a:ln/>
        </p:spPr>
      </p:sp>
      <p:sp>
        <p:nvSpPr>
          <p:cNvPr id="36" name="Shape 32"/>
          <p:cNvSpPr/>
          <p:nvPr/>
        </p:nvSpPr>
        <p:spPr>
          <a:xfrm>
            <a:off x="6400800" y="5596128"/>
            <a:ext cx="54864" cy="685800"/>
          </a:xfrm>
          <a:prstGeom prst="rect">
            <a:avLst/>
          </a:prstGeom>
          <a:solidFill>
            <a:srgbClr val="2B59FC"/>
          </a:solidFill>
          <a:ln/>
        </p:spPr>
      </p:sp>
      <p:sp>
        <p:nvSpPr>
          <p:cNvPr id="37" name="Text 33"/>
          <p:cNvSpPr/>
          <p:nvPr/>
        </p:nvSpPr>
        <p:spPr>
          <a:xfrm>
            <a:off x="658368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583680" y="5870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de actualización de la política a medida que se suman agentes.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5A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R E G A B L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de KPIs por proceso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se entrega con su propio tablero — para que el equipo interno vea, sin pedirle nada a nadie, si el proceso está rindiendo lo esperado.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S H B O A R D S   D E   K P I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Facturas y Agente de Retenciones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10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 — cada dashboard se calibra con los datos reales de Topper durante el piloto.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Facturas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velocidad, precisión y cuánto se automatiza sin ayuda humana.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2179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procesado sin intervención (STP)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" y="3776472"/>
            <a:ext cx="1927007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15" name="Shape 11"/>
          <p:cNvSpPr/>
          <p:nvPr/>
        </p:nvSpPr>
        <p:spPr>
          <a:xfrm>
            <a:off x="326440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seg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42900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por factura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2900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429000" y="3776472"/>
            <a:ext cx="17625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179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excepción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" y="4956048"/>
            <a:ext cx="940003" cy="82296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25" name="Shape 21"/>
          <p:cNvSpPr/>
          <p:nvPr/>
        </p:nvSpPr>
        <p:spPr>
          <a:xfrm>
            <a:off x="326440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2900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hs/mes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342900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2900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9" name="Shape 25"/>
          <p:cNvSpPr/>
          <p:nvPr/>
        </p:nvSpPr>
        <p:spPr>
          <a:xfrm>
            <a:off x="3429000" y="4956048"/>
            <a:ext cx="16450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0" name="Text 26"/>
          <p:cNvSpPr/>
          <p:nvPr/>
        </p:nvSpPr>
        <p:spPr>
          <a:xfrm>
            <a:off x="621792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Retenciones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21792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certificados resueltos solos vs. derivados a revisión.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1792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38251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638251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procesado sin intervención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38251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36" name="Shape 32"/>
          <p:cNvSpPr/>
          <p:nvPr/>
        </p:nvSpPr>
        <p:spPr>
          <a:xfrm>
            <a:off x="6382512" y="3776472"/>
            <a:ext cx="2068007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37" name="Shape 33"/>
          <p:cNvSpPr/>
          <p:nvPr/>
        </p:nvSpPr>
        <p:spPr>
          <a:xfrm>
            <a:off x="902512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18972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seg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918972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por certificado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918972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1" name="Shape 37"/>
          <p:cNvSpPr/>
          <p:nvPr/>
        </p:nvSpPr>
        <p:spPr>
          <a:xfrm>
            <a:off x="9189720" y="3776472"/>
            <a:ext cx="18330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42" name="Shape 38"/>
          <p:cNvSpPr/>
          <p:nvPr/>
        </p:nvSpPr>
        <p:spPr>
          <a:xfrm>
            <a:off x="621792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8251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44" name="Text 40"/>
          <p:cNvSpPr/>
          <p:nvPr/>
        </p:nvSpPr>
        <p:spPr>
          <a:xfrm>
            <a:off x="638251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excepción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38251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6" name="Shape 42"/>
          <p:cNvSpPr/>
          <p:nvPr/>
        </p:nvSpPr>
        <p:spPr>
          <a:xfrm>
            <a:off x="6382512" y="4956048"/>
            <a:ext cx="822503" cy="82296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47" name="Shape 43"/>
          <p:cNvSpPr/>
          <p:nvPr/>
        </p:nvSpPr>
        <p:spPr>
          <a:xfrm>
            <a:off x="902512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18972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&lt;2%</a:t>
            </a:r>
            <a:endParaRPr lang="en-US" sz="2200" dirty="0"/>
          </a:p>
        </p:txBody>
      </p:sp>
      <p:sp>
        <p:nvSpPr>
          <p:cNvPr id="49" name="Text 45"/>
          <p:cNvSpPr/>
          <p:nvPr/>
        </p:nvSpPr>
        <p:spPr>
          <a:xfrm>
            <a:off x="918972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clasificación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18972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51" name="Shape 47"/>
          <p:cNvSpPr/>
          <p:nvPr/>
        </p:nvSpPr>
        <p:spPr>
          <a:xfrm>
            <a:off x="9189720" y="4956048"/>
            <a:ext cx="2232508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52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S H B O A R D S   D E   K P I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Order to Cash y Agente de Control de Contratos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10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 — cada dashboard se calibra con los datos reales de Topper durante el piloto.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Order to Cash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velocidad de cobro y cuánto se gestiona sin fricción manual.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días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2179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(días de cobro)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" y="3776472"/>
            <a:ext cx="1527505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15" name="Shape 11"/>
          <p:cNvSpPr/>
          <p:nvPr/>
        </p:nvSpPr>
        <p:spPr>
          <a:xfrm>
            <a:off x="326440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42900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Facturado cobrado a término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2900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429000" y="3776472"/>
            <a:ext cx="1786006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179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conciliación de cobro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" y="4956048"/>
            <a:ext cx="18800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5" name="Shape 21"/>
          <p:cNvSpPr/>
          <p:nvPr/>
        </p:nvSpPr>
        <p:spPr>
          <a:xfrm>
            <a:off x="326440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2900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US$1.2M/mes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342900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en gestión automatizada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2900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9" name="Shape 25"/>
          <p:cNvSpPr/>
          <p:nvPr/>
        </p:nvSpPr>
        <p:spPr>
          <a:xfrm>
            <a:off x="3429000" y="4956048"/>
            <a:ext cx="16450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0" name="Text 26"/>
          <p:cNvSpPr/>
          <p:nvPr/>
        </p:nvSpPr>
        <p:spPr>
          <a:xfrm>
            <a:off x="621792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Control de Contratos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21792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cobertura de contratos y alertas atendidas a tiempo.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1792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38251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638251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monitoreados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38251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36" name="Shape 32"/>
          <p:cNvSpPr/>
          <p:nvPr/>
        </p:nvSpPr>
        <p:spPr>
          <a:xfrm>
            <a:off x="6382512" y="3776472"/>
            <a:ext cx="2115007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7" name="Shape 33"/>
          <p:cNvSpPr/>
          <p:nvPr/>
        </p:nvSpPr>
        <p:spPr>
          <a:xfrm>
            <a:off x="902512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18972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918972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atendidas a tiempo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918972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1" name="Shape 37"/>
          <p:cNvSpPr/>
          <p:nvPr/>
        </p:nvSpPr>
        <p:spPr>
          <a:xfrm>
            <a:off x="9189720" y="3776472"/>
            <a:ext cx="2209008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42" name="Shape 38"/>
          <p:cNvSpPr/>
          <p:nvPr/>
        </p:nvSpPr>
        <p:spPr>
          <a:xfrm>
            <a:off x="621792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8251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44" name="Text 40"/>
          <p:cNvSpPr/>
          <p:nvPr/>
        </p:nvSpPr>
        <p:spPr>
          <a:xfrm>
            <a:off x="638251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Vencimientos olvidados evitados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38251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6" name="Shape 42"/>
          <p:cNvSpPr/>
          <p:nvPr/>
        </p:nvSpPr>
        <p:spPr>
          <a:xfrm>
            <a:off x="638251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47" name="Shape 43"/>
          <p:cNvSpPr/>
          <p:nvPr/>
        </p:nvSpPr>
        <p:spPr>
          <a:xfrm>
            <a:off x="902512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18972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2200" dirty="0"/>
          </a:p>
        </p:txBody>
      </p:sp>
      <p:sp>
        <p:nvSpPr>
          <p:cNvPr id="49" name="Text 45"/>
          <p:cNvSpPr/>
          <p:nvPr/>
        </p:nvSpPr>
        <p:spPr>
          <a:xfrm>
            <a:off x="918972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revisión de cláusulas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18972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51" name="Shape 47"/>
          <p:cNvSpPr/>
          <p:nvPr/>
        </p:nvSpPr>
        <p:spPr>
          <a:xfrm>
            <a:off x="9189720" y="4956048"/>
            <a:ext cx="1927007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52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5A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0896"/>
            <a:ext cx="1737360" cy="268235"/>
          </a:xfrm>
          <a:prstGeom prst="rect">
            <a:avLst/>
          </a:prstGeom>
        </p:spPr>
      </p:pic>
      <p:pic>
        <p:nvPicPr>
          <p:cNvPr id="4" name="Image 1" descr="/tmp/work/pptassets/FINAL_badge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47472"/>
            <a:ext cx="2011680" cy="2225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S H B O A R D S   D E   K P I 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Conciliación Bancaria y Agente de RRHH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810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ilustrativos — cada dashboard se calibra con los datos reales de Topper durante el piloto.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Conciliación Bancaria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cobertura de bancos y movimientos sin diferencias.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2179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conciliados automáticamente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" y="3776472"/>
            <a:ext cx="2138507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15" name="Shape 11"/>
          <p:cNvSpPr/>
          <p:nvPr/>
        </p:nvSpPr>
        <p:spPr>
          <a:xfrm>
            <a:off x="326440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seg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42900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por extracto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2900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429000" y="3776472"/>
            <a:ext cx="1997507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US$0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179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no conciliadas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25" name="Shape 21"/>
          <p:cNvSpPr/>
          <p:nvPr/>
        </p:nvSpPr>
        <p:spPr>
          <a:xfrm>
            <a:off x="326440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2900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342900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cubiertos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2900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29" name="Shape 25"/>
          <p:cNvSpPr/>
          <p:nvPr/>
        </p:nvSpPr>
        <p:spPr>
          <a:xfrm>
            <a:off x="3429000" y="4956048"/>
            <a:ext cx="17625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30" name="Text 26"/>
          <p:cNvSpPr/>
          <p:nvPr/>
        </p:nvSpPr>
        <p:spPr>
          <a:xfrm>
            <a:off x="6217920" y="2194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RRHH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21792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4205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solicitudes resueltas solas y percepción interna del proceso.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17920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38251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6382512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sin intervención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382512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36" name="Shape 32"/>
          <p:cNvSpPr/>
          <p:nvPr/>
        </p:nvSpPr>
        <p:spPr>
          <a:xfrm>
            <a:off x="6382512" y="3776472"/>
            <a:ext cx="1645006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37" name="Shape 33"/>
          <p:cNvSpPr/>
          <p:nvPr/>
        </p:nvSpPr>
        <p:spPr>
          <a:xfrm>
            <a:off x="9025128" y="2926080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189720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hs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9189720" y="34564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resolución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9189720" y="3776472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1" name="Shape 37"/>
          <p:cNvSpPr/>
          <p:nvPr/>
        </p:nvSpPr>
        <p:spPr>
          <a:xfrm>
            <a:off x="9189720" y="3776472"/>
            <a:ext cx="1527505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42" name="Shape 38"/>
          <p:cNvSpPr/>
          <p:nvPr/>
        </p:nvSpPr>
        <p:spPr>
          <a:xfrm>
            <a:off x="6217920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82512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44" name="Text 40"/>
          <p:cNvSpPr/>
          <p:nvPr/>
        </p:nvSpPr>
        <p:spPr>
          <a:xfrm>
            <a:off x="6382512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Legajos actualizados automáticamente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38251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46" name="Shape 42"/>
          <p:cNvSpPr/>
          <p:nvPr/>
        </p:nvSpPr>
        <p:spPr>
          <a:xfrm>
            <a:off x="6382512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47" name="Shape 43"/>
          <p:cNvSpPr/>
          <p:nvPr/>
        </p:nvSpPr>
        <p:spPr>
          <a:xfrm>
            <a:off x="9025128" y="4105656"/>
            <a:ext cx="267919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189720" y="4197096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</a:t>
            </a:r>
            <a:endParaRPr lang="en-US" sz="2200" dirty="0"/>
          </a:p>
        </p:txBody>
      </p:sp>
      <p:sp>
        <p:nvSpPr>
          <p:cNvPr id="49" name="Text 45"/>
          <p:cNvSpPr/>
          <p:nvPr/>
        </p:nvSpPr>
        <p:spPr>
          <a:xfrm>
            <a:off x="9189720" y="463600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4205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interno del proceso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189720" y="4956048"/>
            <a:ext cx="2350008" cy="82296"/>
          </a:xfrm>
          <a:prstGeom prst="roundRect">
            <a:avLst>
              <a:gd name="adj" fmla="val 50000"/>
            </a:avLst>
          </a:prstGeom>
          <a:solidFill>
            <a:srgbClr val="F5F7FF"/>
          </a:solidFill>
          <a:ln/>
        </p:spPr>
      </p:sp>
      <p:sp>
        <p:nvSpPr>
          <p:cNvPr id="51" name="Shape 47"/>
          <p:cNvSpPr/>
          <p:nvPr/>
        </p:nvSpPr>
        <p:spPr>
          <a:xfrm>
            <a:off x="9189720" y="4956048"/>
            <a:ext cx="1668506" cy="82296"/>
          </a:xfrm>
          <a:prstGeom prst="roundRect">
            <a:avLst>
              <a:gd name="adj" fmla="val 50000"/>
            </a:avLst>
          </a:prstGeom>
          <a:solidFill>
            <a:srgbClr val="2B59FC"/>
          </a:solidFill>
          <a:ln/>
        </p:spPr>
      </p:sp>
      <p:sp>
        <p:nvSpPr>
          <p:cNvPr id="52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Resultado — Assessment de Madurez de IA · Topper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205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1C2C6E"/>
          </a:solidFill>
          <a:ln/>
        </p:spPr>
      </p:sp>
      <p:pic>
        <p:nvPicPr>
          <p:cNvPr id="3" name="Image 0" descr="/tmp/work/pptassets/FINAL_logo_dark_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808" y="2011680"/>
            <a:ext cx="2926080" cy="4517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o comentarios?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B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jmignogna@bci-consulting.com   ·   www.bci-consulting.com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2026-09-04T19:05:02Z</dcterms:created>
  <dcterms:modified xsi:type="dcterms:W3CDTF">2026-09-04T19:05:02Z</dcterms:modified>
</cp:coreProperties>
</file>